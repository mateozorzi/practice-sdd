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Oswald" pitchFamily="3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Presento lo que hice en la iteración: la feature de power-ups en Need4Speed y, sobre todo, el flujo SDD con el que la construí. Al final hay una demo corta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ubicar: seis hitos de la feature de power-ups, cada uno como un change de OpenSpec con sus tests. Pasamos de 299 a 406 tests, todos en verde. Y al final, un change aparte que bajó las issues de Sonar de 23 a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hito fue un change de OpenSpec con los mismos cinco pasos. Explore para entender el problema mirando el código; propose arma proposal, specs con escenarios Given/When/Then, design y tasks; apply arranca por los tests que fallan; verify compara lo hecho con los artefactos; archive deja las specs como fuente de verdad. Antes de empezar armé la constitución del proyecto: mission.md, tech-stack.md y roadmap.md. Los hooks corren formato, cppcheck y tests solos. No se arranca un hito sin pasar el gate del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feature atraviesa todas las capas. Primero el modelo de efectos en el servidor, sin física ni red; después los sensores en Box2D; después el game loop y el protocolo; y recién en el hito 4 el cliente dibuja y reproduce sonido. Cada criterio del roadmap es un escenario de la spec y tiene un test con nombre.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 no fue fijo. Probando el juego después del hito 4 vimos que muchos power-ups quedaban fuera de la calle: 23 de las 108 posiciones. Eso se convirtió en el hito 5, que los ubica sobre la calle entre los checkpoints, y en el hito 6, que respeta si el power-up está arriba o abajo de un puente. Los dos siguieron el mismo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hito se hizo en una sola sesión de Claude Code, y al cerrarla tomé el costo con /usage. En total los seis hitos costaron 52,76 dólares y unas cinco horas y cuarto de sesión, para algo más de cuatro mil líneas agregadas. El hito 3, game loop y protocolo, fue el más caro: 13,28 dólares, porque toca muchas capas a la vez. El 5 sumó la mayor cantidad de código, casi 1.200 líneas, por la grilla de calles. Casi todo el gasto es del modelo Opus; el uso de Haiku no llega a un centavo.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Analicé el código con SonarCloud antes y después de los hitos, con la misma configuración. Los hitos sumaron más de mil líneas sin agregar ninguna issue, y la seguridad se mantuvo en A. La complejidad creció junto con el código: por línea pasó de 0,165 a 0,174. Pero tampoco se arreglaron las 23 issues que ya había, porque no estaban en el alcance de ningún hito. Un change dedicado las cerró: confiabilidad de E a A y deuda en cero, sin tocar el comportamiento. La cobertura baja una décima por los catch defensivos que los tests no ejecutan.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614660"/>
          </a:xfrm>
          <a:prstGeom prst="rect">
            <a:avLst/>
          </a:prstGeom>
          <a:noFill/>
          <a:ln/>
        </p:spPr>
        <p:txBody>
          <a:bodyPr wrap="square" lIns="0" tIns="0" rIns="0" bIns="0" rtlCol="0" anchor="t"/>
          <a:lstStyle>
            <a:lvl1pPr algn="l" indent="0" marL="0">
              <a:lnSpc>
                <a:spcPct val="115000"/>
              </a:lnSpc>
              <a:buNone/>
              <a:defRPr lang="en-US" sz="4400" dirty="0">
                <a:solidFill>
                  <a:srgbClr val="434343"/>
                </a:solidFill>
                <a:latin typeface="Oswald" pitchFamily="34" charset="0"/>
                <a:ea typeface="Oswald" pitchFamily="34" charset="-122"/>
                <a:cs typeface="Oswal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630660"/>
            <a:ext cx="10566400" cy="4414540"/>
          </a:xfrm>
          <a:prstGeom prst="rect">
            <a:avLst/>
          </a:prstGeom>
          <a:noFill/>
          <a:ln/>
        </p:spPr>
        <p:txBody>
          <a:bodyPr wrap="square" lIns="0" tIns="0" rIns="0" bIns="0" rtlCol="0" anchor="t"/>
          <a:lstStyle>
            <a:lvl1pPr algn="l" indent="0" marL="0">
              <a:lnSpc>
                <a:spcPct val="140000"/>
              </a:lnSpc>
              <a:buNone/>
              <a:defRPr lang="en-US" sz="1600" dirty="0">
                <a:solidFill>
                  <a:srgbClr val="434343"/>
                </a:solidFill>
                <a:latin typeface="Source Code Pro" pitchFamily="34" charset="0"/>
                <a:ea typeface="Source Code Pro" pitchFamily="34" charset="-122"/>
                <a:cs typeface="Source Code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614660"/>
          </a:xfrm>
          <a:prstGeom prst="rect">
            <a:avLst/>
          </a:prstGeom>
          <a:noFill/>
          <a:ln/>
        </p:spPr>
        <p:txBody>
          <a:bodyPr wrap="square" lIns="0" tIns="0" rIns="0" bIns="0" rtlCol="0" anchor="t"/>
          <a:lstStyle>
            <a:lvl1pPr algn="l" indent="0" marL="0">
              <a:lnSpc>
                <a:spcPct val="115000"/>
              </a:lnSpc>
              <a:buNone/>
              <a:defRPr lang="en-US" sz="4400" dirty="0">
                <a:solidFill>
                  <a:srgbClr val="434343"/>
                </a:solidFill>
                <a:latin typeface="Oswald" pitchFamily="34" charset="0"/>
                <a:ea typeface="Oswald" pitchFamily="34" charset="-122"/>
                <a:cs typeface="Oswal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1630660"/>
            <a:ext cx="10566400" cy="4414540"/>
          </a:xfrm>
          <a:prstGeom prst="rect">
            <a:avLst/>
          </a:prstGeom>
          <a:noFill/>
          <a:ln/>
        </p:spPr>
        <p:txBody>
          <a:bodyPr wrap="square" lIns="0" tIns="0" rIns="0" bIns="0" rtlCol="0" anchor="t"/>
          <a:lstStyle>
            <a:lvl1pPr algn="l" indent="0" marL="0">
              <a:lnSpc>
                <a:spcPct val="140000"/>
              </a:lnSpc>
              <a:buNone/>
              <a:defRPr lang="en-US" sz="1600" dirty="0">
                <a:solidFill>
                  <a:srgbClr val="434343"/>
                </a:solidFill>
                <a:latin typeface="Source Code Pro" pitchFamily="34" charset="0"/>
                <a:ea typeface="Source Code Pro" pitchFamily="34" charset="-122"/>
                <a:cs typeface="Source Code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4191000"/>
          </a:xfrm>
          <a:prstGeom prst="rect">
            <a:avLst/>
          </a:prstGeom>
          <a:solidFill>
            <a:srgbClr val="E91E63"/>
          </a:solidFill>
          <a:ln/>
        </p:spPr>
      </p:sp>
      <p:sp>
        <p:nvSpPr>
          <p:cNvPr id="3" name="Shape 1"/>
          <p:cNvSpPr/>
          <p:nvPr/>
        </p:nvSpPr>
        <p:spPr>
          <a:xfrm rot="2700000">
            <a:off x="5918200" y="4013200"/>
            <a:ext cx="355600" cy="355600"/>
          </a:xfrm>
          <a:prstGeom prst="rect">
            <a:avLst/>
          </a:prstGeom>
          <a:solidFill>
            <a:srgbClr val="E91E63"/>
          </a:solidFill>
          <a:ln/>
        </p:spPr>
      </p:sp>
      <p:sp>
        <p:nvSpPr>
          <p:cNvPr id="4" name="Text 2"/>
          <p:cNvSpPr/>
          <p:nvPr/>
        </p:nvSpPr>
        <p:spPr>
          <a:xfrm>
            <a:off x="863600" y="1206500"/>
            <a:ext cx="10464800" cy="416520"/>
          </a:xfrm>
          <a:prstGeom prst="rect">
            <a:avLst/>
          </a:prstGeom>
          <a:noFill/>
          <a:ln/>
        </p:spPr>
        <p:txBody>
          <a:bodyPr wrap="square" lIns="0" tIns="0" rIns="0" bIns="0" rtlCol="0" anchor="t">
            <a:normAutofit/>
          </a:bodyPr>
          <a:lstStyle/>
          <a:p>
            <a:pPr algn="ctr" indent="0" marL="0">
              <a:lnSpc>
                <a:spcPts val="3080"/>
              </a:lnSpc>
              <a:buNone/>
            </a:pPr>
            <a:r>
              <a:rPr lang="en-US" sz="2200" spc="100" kern="0" dirty="0">
                <a:solidFill>
                  <a:srgbClr val="FCE4EC"/>
                </a:solidFill>
                <a:latin typeface="Oswald" pitchFamily="34" charset="0"/>
                <a:ea typeface="Oswald" pitchFamily="34" charset="-122"/>
                <a:cs typeface="Oswald" pitchFamily="34" charset="-120"/>
              </a:rPr>
              <a:t>ITERACIÓN #6 · DEMO</a:t>
            </a:r>
            <a:endParaRPr lang="en-US" sz="2200" dirty="0"/>
          </a:p>
        </p:txBody>
      </p:sp>
      <p:sp>
        <p:nvSpPr>
          <p:cNvPr id="5" name="Text 3"/>
          <p:cNvSpPr/>
          <p:nvPr>
            <p:ph type="title"/>
          </p:nvPr>
        </p:nvSpPr>
        <p:spPr>
          <a:xfrm>
            <a:off x="863600" y="1651000"/>
            <a:ext cx="10464800" cy="1561505"/>
          </a:xfrm>
          <a:prstGeom prst="rect">
            <a:avLst/>
          </a:prstGeom>
          <a:noFill/>
          <a:ln/>
        </p:spPr>
        <p:txBody>
          <a:bodyPr wrap="square" lIns="0" tIns="0" rIns="0" bIns="0" rtlCol="0" anchor="t">
            <a:normAutofit/>
          </a:bodyPr>
          <a:lstStyle/>
          <a:p>
            <a:pPr algn="ctr" indent="0" marL="0">
              <a:lnSpc>
                <a:spcPts val="6048"/>
              </a:lnSpc>
              <a:buNone/>
            </a:pPr>
            <a:r>
              <a:rPr lang="en-US" sz="5600" b="0" i="0" dirty="0">
                <a:solidFill>
                  <a:srgbClr val="FFFFFF"/>
                </a:solidFill>
                <a:latin typeface="Oswald" pitchFamily="34" charset="0"/>
                <a:ea typeface="Oswald" pitchFamily="34" charset="-122"/>
                <a:cs typeface="Oswald" pitchFamily="34" charset="-120"/>
              </a:rPr>
              <a:t>POWER-UPS EN PISTA</a:t>
            </a:r>
            <a:endParaRPr lang="en-US" sz="5600" dirty="0"/>
          </a:p>
          <a:p>
            <a:pPr algn="ctr" indent="0" marL="0">
              <a:lnSpc>
                <a:spcPts val="6048"/>
              </a:lnSpc>
              <a:buNone/>
            </a:pPr>
            <a:r>
              <a:rPr lang="en-US" sz="5600" b="0" i="0" dirty="0">
                <a:solidFill>
                  <a:srgbClr val="FFFFFF"/>
                </a:solidFill>
                <a:latin typeface="Oswald" pitchFamily="34" charset="0"/>
                <a:ea typeface="Oswald" pitchFamily="34" charset="-122"/>
                <a:cs typeface="Oswald" pitchFamily="34" charset="-120"/>
              </a:rPr>
              <a:t>CON SPEC-DRIVEN DEVELOPMENT</a:t>
            </a:r>
            <a:endParaRPr lang="en-US" sz="5600" dirty="0"/>
          </a:p>
        </p:txBody>
      </p:sp>
      <p:sp>
        <p:nvSpPr>
          <p:cNvPr id="6" name="Text 4"/>
          <p:cNvSpPr/>
          <p:nvPr/>
        </p:nvSpPr>
        <p:spPr>
          <a:xfrm>
            <a:off x="863600" y="4826000"/>
            <a:ext cx="10464800" cy="573980"/>
          </a:xfrm>
          <a:prstGeom prst="rect">
            <a:avLst/>
          </a:prstGeom>
          <a:noFill/>
          <a:ln/>
        </p:spPr>
        <p:txBody>
          <a:bodyPr wrap="square" lIns="0" tIns="0" rIns="0" bIns="0" rtlCol="0" anchor="t">
            <a:normAutofit/>
          </a:bodyPr>
          <a:lstStyle/>
          <a:p>
            <a:pPr algn="ctr" indent="0" marL="0">
              <a:lnSpc>
                <a:spcPts val="4320"/>
              </a:lnSpc>
              <a:buNone/>
            </a:pPr>
            <a:r>
              <a:rPr lang="en-US" sz="3600" dirty="0">
                <a:solidFill>
                  <a:srgbClr val="434343"/>
                </a:solidFill>
                <a:latin typeface="Oswald" pitchFamily="34" charset="0"/>
                <a:ea typeface="Oswald" pitchFamily="34" charset="-122"/>
                <a:cs typeface="Oswald" pitchFamily="34" charset="-120"/>
              </a:rPr>
              <a:t>MATEO ZORZI · PRUEBA EXPERIMENTO SDD</a:t>
            </a:r>
            <a:endParaRPr lang="en-US" sz="3600" dirty="0"/>
          </a:p>
        </p:txBody>
      </p:sp>
      <p:sp>
        <p:nvSpPr>
          <p:cNvPr id="7" name="Text 5"/>
          <p:cNvSpPr/>
          <p:nvPr/>
        </p:nvSpPr>
        <p:spPr>
          <a:xfrm>
            <a:off x="863600" y="5461000"/>
            <a:ext cx="10464800" cy="573980"/>
          </a:xfrm>
          <a:prstGeom prst="rect">
            <a:avLst/>
          </a:prstGeom>
          <a:noFill/>
          <a:ln/>
        </p:spPr>
        <p:txBody>
          <a:bodyPr wrap="square" lIns="0" tIns="0" rIns="0" bIns="0" rtlCol="0" anchor="t">
            <a:normAutofit/>
          </a:bodyPr>
          <a:lstStyle/>
          <a:p>
            <a:pPr algn="ctr" indent="0" marL="0">
              <a:lnSpc>
                <a:spcPts val="4320"/>
              </a:lnSpc>
              <a:buNone/>
            </a:pPr>
            <a:r>
              <a:rPr lang="en-US" sz="3600" dirty="0">
                <a:solidFill>
                  <a:srgbClr val="434343"/>
                </a:solidFill>
                <a:latin typeface="Oswald" pitchFamily="34" charset="0"/>
                <a:ea typeface="Oswald" pitchFamily="34" charset="-122"/>
                <a:cs typeface="Oswald" pitchFamily="34" charset="-120"/>
              </a:rPr>
              <a:t>19/10 – 26/10</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434343"/>
                </a:solidFill>
                <a:latin typeface="Oswald" pitchFamily="34" charset="0"/>
                <a:ea typeface="Oswald" pitchFamily="34" charset="-122"/>
                <a:cs typeface="Oswald" pitchFamily="34" charset="-120"/>
              </a:rPr>
              <a:t>RESUMEN DEL EXPERIMENTO</a:t>
            </a:r>
            <a:endParaRPr lang="en-US" sz="4400" dirty="0"/>
          </a:p>
        </p:txBody>
      </p:sp>
      <p:sp>
        <p:nvSpPr>
          <p:cNvPr id="3" name="Text 1"/>
          <p:cNvSpPr/>
          <p:nvPr/>
        </p:nvSpPr>
        <p:spPr>
          <a:xfrm>
            <a:off x="812800" y="14782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343"/>
                </a:solidFill>
                <a:latin typeface="Source Code Pro" pitchFamily="49" charset="0"/>
                <a:ea typeface="Source Code Pro" pitchFamily="49" charset="-122"/>
                <a:cs typeface="Source Code Pro" pitchFamily="49" charset="-120"/>
              </a:rPr>
              <a:t>———</a:t>
            </a:r>
            <a:endParaRPr lang="en-US" sz="1600" dirty="0"/>
          </a:p>
        </p:txBody>
      </p:sp>
      <p:sp>
        <p:nvSpPr>
          <p:cNvPr id="4" name="Text 2"/>
          <p:cNvSpPr/>
          <p:nvPr/>
        </p:nvSpPr>
        <p:spPr>
          <a:xfrm>
            <a:off x="812800" y="191512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34343"/>
                </a:solidFill>
                <a:latin typeface="Source Code Pro" pitchFamily="49" charset="0"/>
                <a:ea typeface="Source Code Pro" pitchFamily="49" charset="-122"/>
                <a:cs typeface="Source Code Pro" pitchFamily="49" charset="-120"/>
              </a:rPr>
              <a:t>Objetivo: sumar power-ups a Need4Speed con el flujo SDD</a:t>
            </a:r>
            <a:endParaRPr lang="en-US" sz="1800" dirty="0"/>
          </a:p>
        </p:txBody>
      </p:sp>
      <p:sp>
        <p:nvSpPr>
          <p:cNvPr id="5" name="Shape 3"/>
          <p:cNvSpPr/>
          <p:nvPr/>
        </p:nvSpPr>
        <p:spPr>
          <a:xfrm>
            <a:off x="812800" y="3016250"/>
            <a:ext cx="3318867" cy="1998960"/>
          </a:xfrm>
          <a:prstGeom prst="roundRect">
            <a:avLst>
              <a:gd name="adj" fmla="val 20331"/>
            </a:avLst>
          </a:prstGeom>
          <a:solidFill>
            <a:srgbClr val="FCE4EC"/>
          </a:solidFill>
          <a:ln/>
        </p:spPr>
      </p:sp>
      <p:sp>
        <p:nvSpPr>
          <p:cNvPr id="6" name="Text 4"/>
          <p:cNvSpPr/>
          <p:nvPr/>
        </p:nvSpPr>
        <p:spPr>
          <a:xfrm>
            <a:off x="2226250" y="3422650"/>
            <a:ext cx="491966" cy="825500"/>
          </a:xfrm>
          <a:prstGeom prst="rect">
            <a:avLst/>
          </a:prstGeom>
          <a:noFill/>
          <a:ln/>
        </p:spPr>
        <p:txBody>
          <a:bodyPr wrap="square" lIns="0" tIns="0" rIns="0" bIns="0" rtlCol="0" anchor="t">
            <a:normAutofit/>
          </a:bodyPr>
          <a:lstStyle/>
          <a:p>
            <a:pPr algn="ctr" indent="0" marL="0">
              <a:lnSpc>
                <a:spcPts val="6300"/>
              </a:lnSpc>
              <a:buNone/>
            </a:pPr>
            <a:r>
              <a:rPr lang="en-US" sz="6000" b="1" dirty="0">
                <a:solidFill>
                  <a:srgbClr val="E91E63"/>
                </a:solidFill>
                <a:latin typeface="Oswald" pitchFamily="34" charset="0"/>
                <a:ea typeface="Oswald" pitchFamily="34" charset="-122"/>
                <a:cs typeface="Oswald" pitchFamily="34" charset="-120"/>
              </a:rPr>
              <a:t>6</a:t>
            </a:r>
            <a:endParaRPr lang="en-US" sz="6000" dirty="0"/>
          </a:p>
        </p:txBody>
      </p:sp>
      <p:sp>
        <p:nvSpPr>
          <p:cNvPr id="7" name="Text 5"/>
          <p:cNvSpPr/>
          <p:nvPr/>
        </p:nvSpPr>
        <p:spPr>
          <a:xfrm>
            <a:off x="1301859" y="4273550"/>
            <a:ext cx="2340650"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434343"/>
                </a:solidFill>
                <a:latin typeface="Oswald" pitchFamily="34" charset="0"/>
                <a:ea typeface="Oswald" pitchFamily="34" charset="-122"/>
                <a:cs typeface="Oswald" pitchFamily="34" charset="-120"/>
              </a:rPr>
              <a:t>Hitos de power-ups</a:t>
            </a:r>
            <a:endParaRPr lang="en-US" sz="2200" dirty="0"/>
          </a:p>
        </p:txBody>
      </p:sp>
      <p:sp>
        <p:nvSpPr>
          <p:cNvPr id="8" name="Shape 6"/>
          <p:cNvSpPr/>
          <p:nvPr/>
        </p:nvSpPr>
        <p:spPr>
          <a:xfrm>
            <a:off x="4436467" y="3016250"/>
            <a:ext cx="3318966" cy="1998960"/>
          </a:xfrm>
          <a:prstGeom prst="roundRect">
            <a:avLst>
              <a:gd name="adj" fmla="val 20331"/>
            </a:avLst>
          </a:prstGeom>
          <a:solidFill>
            <a:srgbClr val="FCE4EC"/>
          </a:solidFill>
          <a:ln/>
        </p:spPr>
      </p:sp>
      <p:sp>
        <p:nvSpPr>
          <p:cNvPr id="9" name="Text 7"/>
          <p:cNvSpPr/>
          <p:nvPr/>
        </p:nvSpPr>
        <p:spPr>
          <a:xfrm>
            <a:off x="5358894" y="3422650"/>
            <a:ext cx="1474113" cy="825500"/>
          </a:xfrm>
          <a:prstGeom prst="rect">
            <a:avLst/>
          </a:prstGeom>
          <a:noFill/>
          <a:ln/>
        </p:spPr>
        <p:txBody>
          <a:bodyPr wrap="square" lIns="0" tIns="0" rIns="0" bIns="0" rtlCol="0" anchor="t">
            <a:normAutofit/>
          </a:bodyPr>
          <a:lstStyle/>
          <a:p>
            <a:pPr algn="ctr" indent="0" marL="0">
              <a:lnSpc>
                <a:spcPts val="6300"/>
              </a:lnSpc>
              <a:buNone/>
            </a:pPr>
            <a:r>
              <a:rPr lang="en-US" sz="6000" b="1" dirty="0">
                <a:solidFill>
                  <a:srgbClr val="E91E63"/>
                </a:solidFill>
                <a:latin typeface="Oswald" pitchFamily="34" charset="0"/>
                <a:ea typeface="Oswald" pitchFamily="34" charset="-122"/>
                <a:cs typeface="Oswald" pitchFamily="34" charset="-120"/>
              </a:rPr>
              <a:t>406</a:t>
            </a:r>
            <a:endParaRPr lang="en-US" sz="6000" dirty="0"/>
          </a:p>
        </p:txBody>
      </p:sp>
      <p:sp>
        <p:nvSpPr>
          <p:cNvPr id="10" name="Text 8"/>
          <p:cNvSpPr/>
          <p:nvPr/>
        </p:nvSpPr>
        <p:spPr>
          <a:xfrm>
            <a:off x="5105777" y="4273550"/>
            <a:ext cx="1980248"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434343"/>
                </a:solidFill>
                <a:latin typeface="Oswald" pitchFamily="34" charset="0"/>
                <a:ea typeface="Oswald" pitchFamily="34" charset="-122"/>
                <a:cs typeface="Oswald" pitchFamily="34" charset="-120"/>
              </a:rPr>
              <a:t>Tests (eran 299)</a:t>
            </a:r>
            <a:endParaRPr lang="en-US" sz="2200" dirty="0"/>
          </a:p>
        </p:txBody>
      </p:sp>
      <p:sp>
        <p:nvSpPr>
          <p:cNvPr id="11" name="Shape 9"/>
          <p:cNvSpPr/>
          <p:nvPr/>
        </p:nvSpPr>
        <p:spPr>
          <a:xfrm>
            <a:off x="8060234" y="3016250"/>
            <a:ext cx="3318966" cy="1998960"/>
          </a:xfrm>
          <a:prstGeom prst="roundRect">
            <a:avLst>
              <a:gd name="adj" fmla="val 20331"/>
            </a:avLst>
          </a:prstGeom>
          <a:solidFill>
            <a:srgbClr val="FCE4EC"/>
          </a:solidFill>
          <a:ln/>
        </p:spPr>
      </p:sp>
      <p:sp>
        <p:nvSpPr>
          <p:cNvPr id="12" name="Text 10"/>
          <p:cNvSpPr/>
          <p:nvPr/>
        </p:nvSpPr>
        <p:spPr>
          <a:xfrm>
            <a:off x="8306872" y="3422650"/>
            <a:ext cx="2825591" cy="825500"/>
          </a:xfrm>
          <a:prstGeom prst="rect">
            <a:avLst/>
          </a:prstGeom>
          <a:noFill/>
          <a:ln/>
        </p:spPr>
        <p:txBody>
          <a:bodyPr wrap="square" lIns="0" tIns="0" rIns="0" bIns="0" rtlCol="0" anchor="t">
            <a:normAutofit/>
          </a:bodyPr>
          <a:lstStyle/>
          <a:p>
            <a:pPr algn="ctr" indent="0" marL="0">
              <a:lnSpc>
                <a:spcPts val="6300"/>
              </a:lnSpc>
              <a:buNone/>
            </a:pPr>
            <a:r>
              <a:rPr lang="en-US" sz="6000" b="1" dirty="0">
                <a:solidFill>
                  <a:srgbClr val="E91E63"/>
                </a:solidFill>
                <a:latin typeface="Oswald" pitchFamily="34" charset="0"/>
                <a:ea typeface="Oswald" pitchFamily="34" charset="-122"/>
                <a:cs typeface="Oswald" pitchFamily="34" charset="-120"/>
              </a:rPr>
              <a:t>23 → 0</a:t>
            </a:r>
            <a:endParaRPr lang="en-US" sz="6000" dirty="0"/>
          </a:p>
        </p:txBody>
      </p:sp>
      <p:sp>
        <p:nvSpPr>
          <p:cNvPr id="13" name="Text 11"/>
          <p:cNvSpPr/>
          <p:nvPr/>
        </p:nvSpPr>
        <p:spPr>
          <a:xfrm>
            <a:off x="8433901" y="4273550"/>
            <a:ext cx="2571631" cy="360660"/>
          </a:xfrm>
          <a:prstGeom prst="rect">
            <a:avLst/>
          </a:prstGeom>
          <a:noFill/>
          <a:ln/>
        </p:spPr>
        <p:txBody>
          <a:bodyPr wrap="square" lIns="0" tIns="0" rIns="0" bIns="0" rtlCol="0" anchor="t">
            <a:normAutofit/>
          </a:bodyPr>
          <a:lstStyle/>
          <a:p>
            <a:pPr algn="ctr" indent="0" marL="0">
              <a:lnSpc>
                <a:spcPts val="2640"/>
              </a:lnSpc>
              <a:buNone/>
            </a:pPr>
            <a:r>
              <a:rPr lang="en-US" sz="2200" dirty="0">
                <a:solidFill>
                  <a:srgbClr val="434343"/>
                </a:solidFill>
                <a:latin typeface="Oswald" pitchFamily="34" charset="0"/>
                <a:ea typeface="Oswald" pitchFamily="34" charset="-122"/>
                <a:cs typeface="Oswald" pitchFamily="34" charset="-120"/>
              </a:rPr>
              <a:t>Issues de SonarCloud</a:t>
            </a:r>
            <a:endParaRPr lang="en-US" sz="2200" dirty="0"/>
          </a:p>
        </p:txBody>
      </p:sp>
      <p:sp>
        <p:nvSpPr>
          <p:cNvPr id="14" name="Text 12"/>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57575"/>
                </a:solidFill>
                <a:latin typeface="Source Code Pro" pitchFamily="49" charset="0"/>
                <a:ea typeface="Source Code Pro" pitchFamily="49" charset="-122"/>
                <a:cs typeface="Source Code Pro" pitchFamily="49" charset="-120"/>
              </a:rPr>
              <a:t>Cada hito fue un change de OpenSpec · todos los tests en verde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434343"/>
                </a:solidFill>
                <a:latin typeface="Oswald" pitchFamily="34" charset="0"/>
                <a:ea typeface="Oswald" pitchFamily="34" charset="-122"/>
                <a:cs typeface="Oswald" pitchFamily="34" charset="-120"/>
              </a:rPr>
              <a:t>FLUJO SDD: UN CHANGE POR HITO</a:t>
            </a:r>
            <a:endParaRPr lang="en-US" sz="4400" dirty="0"/>
          </a:p>
        </p:txBody>
      </p:sp>
      <p:sp>
        <p:nvSpPr>
          <p:cNvPr id="3" name="Text 1"/>
          <p:cNvSpPr/>
          <p:nvPr/>
        </p:nvSpPr>
        <p:spPr>
          <a:xfrm>
            <a:off x="812800" y="14782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343"/>
                </a:solidFill>
                <a:latin typeface="Source Code Pro" pitchFamily="49" charset="0"/>
                <a:ea typeface="Source Code Pro" pitchFamily="49" charset="-122"/>
                <a:cs typeface="Source Code Pro" pitchFamily="49" charset="-120"/>
              </a:rPr>
              <a:t>———</a:t>
            </a:r>
            <a:endParaRPr lang="en-US" sz="1600" dirty="0"/>
          </a:p>
        </p:txBody>
      </p:sp>
      <p:sp>
        <p:nvSpPr>
          <p:cNvPr id="4" name="Shape 2"/>
          <p:cNvSpPr/>
          <p:nvPr/>
        </p:nvSpPr>
        <p:spPr>
          <a:xfrm>
            <a:off x="812800" y="1915120"/>
            <a:ext cx="6883400" cy="538460"/>
          </a:xfrm>
          <a:prstGeom prst="roundRect">
            <a:avLst>
              <a:gd name="adj" fmla="val 28303"/>
            </a:avLst>
          </a:prstGeom>
          <a:solidFill>
            <a:srgbClr val="F3F3F3"/>
          </a:solidFill>
          <a:ln/>
        </p:spPr>
      </p:sp>
      <p:sp>
        <p:nvSpPr>
          <p:cNvPr id="5" name="Text 3"/>
          <p:cNvSpPr/>
          <p:nvPr/>
        </p:nvSpPr>
        <p:spPr>
          <a:xfrm>
            <a:off x="1016000" y="2042120"/>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1E63"/>
                </a:solidFill>
                <a:latin typeface="Source Code Pro" pitchFamily="49" charset="0"/>
                <a:ea typeface="Source Code Pro" pitchFamily="49" charset="-122"/>
                <a:cs typeface="Source Code Pro" pitchFamily="49" charset="-120"/>
              </a:rPr>
              <a:t>/opsx:explore</a:t>
            </a:r>
            <a:endParaRPr lang="en-US" sz="1600" dirty="0"/>
          </a:p>
        </p:txBody>
      </p:sp>
      <p:sp>
        <p:nvSpPr>
          <p:cNvPr id="6" name="Text 4"/>
          <p:cNvSpPr/>
          <p:nvPr/>
        </p:nvSpPr>
        <p:spPr>
          <a:xfrm>
            <a:off x="3073400" y="2068810"/>
            <a:ext cx="45521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Pensar el problema con el código a la vista</a:t>
            </a:r>
            <a:endParaRPr lang="en-US" sz="1300" dirty="0"/>
          </a:p>
        </p:txBody>
      </p:sp>
      <p:sp>
        <p:nvSpPr>
          <p:cNvPr id="7" name="Shape 5"/>
          <p:cNvSpPr/>
          <p:nvPr/>
        </p:nvSpPr>
        <p:spPr>
          <a:xfrm>
            <a:off x="812800" y="2768600"/>
            <a:ext cx="6883400" cy="716161"/>
          </a:xfrm>
          <a:prstGeom prst="roundRect">
            <a:avLst>
              <a:gd name="adj" fmla="val 21280"/>
            </a:avLst>
          </a:prstGeom>
          <a:solidFill>
            <a:srgbClr val="F3F3F3"/>
          </a:solidFill>
          <a:ln/>
        </p:spPr>
      </p:sp>
      <p:sp>
        <p:nvSpPr>
          <p:cNvPr id="8" name="Text 6"/>
          <p:cNvSpPr/>
          <p:nvPr/>
        </p:nvSpPr>
        <p:spPr>
          <a:xfrm>
            <a:off x="1016000" y="2984401"/>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1E63"/>
                </a:solidFill>
                <a:latin typeface="Source Code Pro" pitchFamily="49" charset="0"/>
                <a:ea typeface="Source Code Pro" pitchFamily="49" charset="-122"/>
                <a:cs typeface="Source Code Pro" pitchFamily="49" charset="-120"/>
              </a:rPr>
              <a:t>/opsx:propose</a:t>
            </a:r>
            <a:endParaRPr lang="en-US" sz="1600" dirty="0"/>
          </a:p>
        </p:txBody>
      </p:sp>
      <p:sp>
        <p:nvSpPr>
          <p:cNvPr id="9" name="Text 7"/>
          <p:cNvSpPr/>
          <p:nvPr/>
        </p:nvSpPr>
        <p:spPr>
          <a:xfrm>
            <a:off x="3073400" y="2895600"/>
            <a:ext cx="455218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Proposal, specs Given/When/Then, design y tasks</a:t>
            </a:r>
            <a:endParaRPr lang="en-US" sz="1300" dirty="0"/>
          </a:p>
        </p:txBody>
      </p:sp>
      <p:sp>
        <p:nvSpPr>
          <p:cNvPr id="10" name="Shape 8"/>
          <p:cNvSpPr/>
          <p:nvPr/>
        </p:nvSpPr>
        <p:spPr>
          <a:xfrm>
            <a:off x="812800" y="3799780"/>
            <a:ext cx="6883400" cy="538460"/>
          </a:xfrm>
          <a:prstGeom prst="roundRect">
            <a:avLst>
              <a:gd name="adj" fmla="val 28303"/>
            </a:avLst>
          </a:prstGeom>
          <a:solidFill>
            <a:srgbClr val="F3F3F3"/>
          </a:solidFill>
          <a:ln/>
        </p:spPr>
      </p:sp>
      <p:sp>
        <p:nvSpPr>
          <p:cNvPr id="11" name="Text 9"/>
          <p:cNvSpPr/>
          <p:nvPr/>
        </p:nvSpPr>
        <p:spPr>
          <a:xfrm>
            <a:off x="1016000" y="3926780"/>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1E63"/>
                </a:solidFill>
                <a:latin typeface="Source Code Pro" pitchFamily="49" charset="0"/>
                <a:ea typeface="Source Code Pro" pitchFamily="49" charset="-122"/>
                <a:cs typeface="Source Code Pro" pitchFamily="49" charset="-120"/>
              </a:rPr>
              <a:t>/opsx:apply</a:t>
            </a:r>
            <a:endParaRPr lang="en-US" sz="1600" dirty="0"/>
          </a:p>
        </p:txBody>
      </p:sp>
      <p:sp>
        <p:nvSpPr>
          <p:cNvPr id="12" name="Text 10"/>
          <p:cNvSpPr/>
          <p:nvPr/>
        </p:nvSpPr>
        <p:spPr>
          <a:xfrm>
            <a:off x="3073400" y="3953470"/>
            <a:ext cx="45521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Tests que fallan primero, después el código</a:t>
            </a:r>
            <a:endParaRPr lang="en-US" sz="1300" dirty="0"/>
          </a:p>
        </p:txBody>
      </p:sp>
      <p:sp>
        <p:nvSpPr>
          <p:cNvPr id="13" name="Shape 11"/>
          <p:cNvSpPr/>
          <p:nvPr/>
        </p:nvSpPr>
        <p:spPr>
          <a:xfrm>
            <a:off x="812800" y="4653260"/>
            <a:ext cx="6883400" cy="538460"/>
          </a:xfrm>
          <a:prstGeom prst="roundRect">
            <a:avLst>
              <a:gd name="adj" fmla="val 28303"/>
            </a:avLst>
          </a:prstGeom>
          <a:solidFill>
            <a:srgbClr val="F3F3F3"/>
          </a:solidFill>
          <a:ln/>
        </p:spPr>
      </p:sp>
      <p:sp>
        <p:nvSpPr>
          <p:cNvPr id="14" name="Text 12"/>
          <p:cNvSpPr/>
          <p:nvPr/>
        </p:nvSpPr>
        <p:spPr>
          <a:xfrm>
            <a:off x="1016000" y="4780260"/>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1E63"/>
                </a:solidFill>
                <a:latin typeface="Source Code Pro" pitchFamily="49" charset="0"/>
                <a:ea typeface="Source Code Pro" pitchFamily="49" charset="-122"/>
                <a:cs typeface="Source Code Pro" pitchFamily="49" charset="-120"/>
              </a:rPr>
              <a:t>/opsx:verify</a:t>
            </a:r>
            <a:endParaRPr lang="en-US" sz="1600" dirty="0"/>
          </a:p>
        </p:txBody>
      </p:sp>
      <p:sp>
        <p:nvSpPr>
          <p:cNvPr id="15" name="Text 13"/>
          <p:cNvSpPr/>
          <p:nvPr/>
        </p:nvSpPr>
        <p:spPr>
          <a:xfrm>
            <a:off x="3073400" y="4806950"/>
            <a:ext cx="45521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La implementación contra los artefactos</a:t>
            </a:r>
            <a:endParaRPr lang="en-US" sz="1300" dirty="0"/>
          </a:p>
        </p:txBody>
      </p:sp>
      <p:sp>
        <p:nvSpPr>
          <p:cNvPr id="16" name="Shape 14"/>
          <p:cNvSpPr/>
          <p:nvPr/>
        </p:nvSpPr>
        <p:spPr>
          <a:xfrm>
            <a:off x="812800" y="5506740"/>
            <a:ext cx="6883400" cy="538460"/>
          </a:xfrm>
          <a:prstGeom prst="roundRect">
            <a:avLst>
              <a:gd name="adj" fmla="val 28303"/>
            </a:avLst>
          </a:prstGeom>
          <a:solidFill>
            <a:srgbClr val="F3F3F3"/>
          </a:solidFill>
          <a:ln/>
        </p:spPr>
      </p:sp>
      <p:sp>
        <p:nvSpPr>
          <p:cNvPr id="17" name="Text 15"/>
          <p:cNvSpPr/>
          <p:nvPr/>
        </p:nvSpPr>
        <p:spPr>
          <a:xfrm>
            <a:off x="1016000" y="5633740"/>
            <a:ext cx="196215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91E63"/>
                </a:solidFill>
                <a:latin typeface="Source Code Pro" pitchFamily="49" charset="0"/>
                <a:ea typeface="Source Code Pro" pitchFamily="49" charset="-122"/>
                <a:cs typeface="Source Code Pro" pitchFamily="49" charset="-120"/>
              </a:rPr>
              <a:t>/opsx:archive</a:t>
            </a:r>
            <a:endParaRPr lang="en-US" sz="1600" dirty="0"/>
          </a:p>
        </p:txBody>
      </p:sp>
      <p:sp>
        <p:nvSpPr>
          <p:cNvPr id="18" name="Text 16"/>
          <p:cNvSpPr/>
          <p:nvPr/>
        </p:nvSpPr>
        <p:spPr>
          <a:xfrm>
            <a:off x="3073400" y="5660430"/>
            <a:ext cx="455218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Las specs pasan a ser la fuente de verdad</a:t>
            </a:r>
            <a:endParaRPr lang="en-US" sz="1300" dirty="0"/>
          </a:p>
        </p:txBody>
      </p:sp>
      <p:sp>
        <p:nvSpPr>
          <p:cNvPr id="19" name="Shape 17"/>
          <p:cNvSpPr/>
          <p:nvPr/>
        </p:nvSpPr>
        <p:spPr>
          <a:xfrm>
            <a:off x="7950200" y="1915120"/>
            <a:ext cx="3429000" cy="1087041"/>
          </a:xfrm>
          <a:prstGeom prst="roundRect">
            <a:avLst>
              <a:gd name="adj" fmla="val 14020"/>
            </a:avLst>
          </a:prstGeom>
          <a:solidFill>
            <a:srgbClr val="F3F3F3"/>
          </a:solidFill>
          <a:ln/>
        </p:spPr>
      </p:sp>
      <p:sp>
        <p:nvSpPr>
          <p:cNvPr id="20" name="Text 18"/>
          <p:cNvSpPr/>
          <p:nvPr/>
        </p:nvSpPr>
        <p:spPr>
          <a:xfrm>
            <a:off x="8153400" y="2067520"/>
            <a:ext cx="31132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1E63"/>
                </a:solidFill>
                <a:latin typeface="Oswald" pitchFamily="34" charset="0"/>
                <a:ea typeface="Oswald" pitchFamily="34" charset="-122"/>
                <a:cs typeface="Oswald" pitchFamily="34" charset="-120"/>
              </a:rPr>
              <a:t>CONSTITUCIÓN</a:t>
            </a:r>
            <a:endParaRPr lang="en-US" sz="2000" dirty="0"/>
          </a:p>
        </p:txBody>
      </p:sp>
      <p:sp>
        <p:nvSpPr>
          <p:cNvPr id="21" name="Text 19"/>
          <p:cNvSpPr/>
          <p:nvPr/>
        </p:nvSpPr>
        <p:spPr>
          <a:xfrm>
            <a:off x="8153400" y="2423120"/>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343"/>
                </a:solidFill>
                <a:latin typeface="Source Code Pro" pitchFamily="49" charset="0"/>
                <a:ea typeface="Source Code Pro" pitchFamily="49" charset="-122"/>
                <a:cs typeface="Source Code Pro" pitchFamily="49" charset="-120"/>
              </a:rPr>
              <a:t>mission.md · tech-stack.md · roadmap.md</a:t>
            </a:r>
            <a:endParaRPr lang="en-US" sz="1200" dirty="0"/>
          </a:p>
        </p:txBody>
      </p:sp>
      <p:sp>
        <p:nvSpPr>
          <p:cNvPr id="22" name="Shape 20"/>
          <p:cNvSpPr/>
          <p:nvPr/>
        </p:nvSpPr>
        <p:spPr>
          <a:xfrm>
            <a:off x="7950200" y="3329980"/>
            <a:ext cx="3429000" cy="1300361"/>
          </a:xfrm>
          <a:prstGeom prst="roundRect">
            <a:avLst>
              <a:gd name="adj" fmla="val 11720"/>
            </a:avLst>
          </a:prstGeom>
          <a:solidFill>
            <a:srgbClr val="F3F3F3"/>
          </a:solidFill>
          <a:ln/>
        </p:spPr>
      </p:sp>
      <p:sp>
        <p:nvSpPr>
          <p:cNvPr id="23" name="Text 21"/>
          <p:cNvSpPr/>
          <p:nvPr/>
        </p:nvSpPr>
        <p:spPr>
          <a:xfrm>
            <a:off x="8153400" y="3482380"/>
            <a:ext cx="31132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1E63"/>
                </a:solidFill>
                <a:latin typeface="Oswald" pitchFamily="34" charset="0"/>
                <a:ea typeface="Oswald" pitchFamily="34" charset="-122"/>
                <a:cs typeface="Oswald" pitchFamily="34" charset="-120"/>
              </a:rPr>
              <a:t>HOOKS</a:t>
            </a:r>
            <a:endParaRPr lang="en-US" sz="2000" dirty="0"/>
          </a:p>
        </p:txBody>
      </p:sp>
      <p:sp>
        <p:nvSpPr>
          <p:cNvPr id="24" name="Text 22"/>
          <p:cNvSpPr/>
          <p:nvPr/>
        </p:nvSpPr>
        <p:spPr>
          <a:xfrm>
            <a:off x="8153400" y="3837980"/>
            <a:ext cx="311327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343"/>
                </a:solidFill>
                <a:latin typeface="Source Code Pro" pitchFamily="49" charset="0"/>
                <a:ea typeface="Source Code Pro" pitchFamily="49" charset="-122"/>
                <a:cs typeface="Source Code Pro" pitchFamily="49" charset="-120"/>
              </a:rPr>
              <a:t>Al editar: clang-format y cppcheck. Al commitear: linters y tests.</a:t>
            </a:r>
            <a:endParaRPr lang="en-US" sz="1200" dirty="0"/>
          </a:p>
        </p:txBody>
      </p:sp>
      <p:sp>
        <p:nvSpPr>
          <p:cNvPr id="25" name="Shape 23"/>
          <p:cNvSpPr/>
          <p:nvPr/>
        </p:nvSpPr>
        <p:spPr>
          <a:xfrm>
            <a:off x="7950200" y="4958159"/>
            <a:ext cx="3429000" cy="1087041"/>
          </a:xfrm>
          <a:prstGeom prst="roundRect">
            <a:avLst>
              <a:gd name="adj" fmla="val 14020"/>
            </a:avLst>
          </a:prstGeom>
          <a:solidFill>
            <a:srgbClr val="FCE4EC"/>
          </a:solidFill>
          <a:ln/>
        </p:spPr>
      </p:sp>
      <p:sp>
        <p:nvSpPr>
          <p:cNvPr id="26" name="Text 24"/>
          <p:cNvSpPr/>
          <p:nvPr/>
        </p:nvSpPr>
        <p:spPr>
          <a:xfrm>
            <a:off x="8153400" y="5110559"/>
            <a:ext cx="31132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1E63"/>
                </a:solidFill>
                <a:latin typeface="Oswald" pitchFamily="34" charset="0"/>
                <a:ea typeface="Oswald" pitchFamily="34" charset="-122"/>
                <a:cs typeface="Oswald" pitchFamily="34" charset="-120"/>
              </a:rPr>
              <a:t>GATE ENTRE HITOS</a:t>
            </a:r>
            <a:endParaRPr lang="en-US" sz="2000" dirty="0"/>
          </a:p>
        </p:txBody>
      </p:sp>
      <p:sp>
        <p:nvSpPr>
          <p:cNvPr id="27" name="Text 25"/>
          <p:cNvSpPr/>
          <p:nvPr/>
        </p:nvSpPr>
        <p:spPr>
          <a:xfrm>
            <a:off x="8153400" y="5466159"/>
            <a:ext cx="31132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34343"/>
                </a:solidFill>
                <a:latin typeface="Source Code Pro" pitchFamily="49" charset="0"/>
                <a:ea typeface="Source Code Pro" pitchFamily="49" charset="-122"/>
                <a:cs typeface="Source Code Pro" pitchFamily="49" charset="-120"/>
              </a:rPr>
              <a:t>Tests en verde, sin regresiones y verify sin CRITICAL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57575"/>
                </a:solidFill>
                <a:latin typeface="Source Code Pro" pitchFamily="49" charset="0"/>
                <a:ea typeface="Source Code Pro" pitchFamily="49" charset="-122"/>
                <a:cs typeface="Source Code Pro" pitchFamily="49" charset="-120"/>
              </a:rPr>
              <a:t>Nitro, Reparación y Escudo · el servidor calcula los efectos; el cliente solo dibuja y suena</a:t>
            </a:r>
            <a:endParaRPr lang="en-US" sz="1200" dirty="0"/>
          </a:p>
        </p:txBody>
      </p:sp>
      <p:sp>
        <p:nvSpPr>
          <p:cNvPr id="3" name="Text 1"/>
          <p:cNvSpPr/>
          <p:nvPr>
            <p:ph type="title"/>
          </p:nvPr>
        </p:nvSpPr>
        <p:spPr>
          <a:xfrm>
            <a:off x="812800" y="7112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434343"/>
                </a:solidFill>
                <a:latin typeface="Oswald" pitchFamily="34" charset="0"/>
                <a:ea typeface="Oswald" pitchFamily="34" charset="-122"/>
                <a:cs typeface="Oswald" pitchFamily="34" charset="-120"/>
              </a:rPr>
              <a:t>HITOS DE POWER-UPS</a:t>
            </a:r>
            <a:endParaRPr lang="en-US" sz="4400" dirty="0"/>
          </a:p>
        </p:txBody>
      </p:sp>
      <p:sp>
        <p:nvSpPr>
          <p:cNvPr id="4" name="Text 2"/>
          <p:cNvSpPr/>
          <p:nvPr/>
        </p:nvSpPr>
        <p:spPr>
          <a:xfrm>
            <a:off x="812800" y="14795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343"/>
                </a:solidFill>
                <a:latin typeface="Source Code Pro" pitchFamily="49" charset="0"/>
                <a:ea typeface="Source Code Pro" pitchFamily="49" charset="-122"/>
                <a:cs typeface="Source Code Pro" pitchFamily="49" charset="-120"/>
              </a:rPr>
              <a: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993900"/>
          <a:ext cx="10553700" cy="2063750"/>
        </p:xfrm>
        <a:graphic>
          <a:graphicData uri="http://schemas.openxmlformats.org/drawingml/2006/table">
            <a:tbl>
              <a:tblPr/>
              <a:tblGrid>
                <a:gridCol w="1055370"/>
                <a:gridCol w="9498330"/>
              </a:tblGrid>
              <a:tr h="412750">
                <a:tc>
                  <a:txBody>
                    <a:bodyPr/>
                    <a:lstStyle/>
                    <a:p>
                      <a:pPr indent="0" marL="0">
                        <a:lnSpc>
                          <a:spcPts val="2100"/>
                        </a:lnSpc>
                        <a:buNone/>
                      </a:pPr>
                      <a:r>
                        <a:rPr lang="en-US" sz="1500" b="1" dirty="0">
                          <a:solidFill>
                            <a:srgbClr val="434343"/>
                          </a:solidFill>
                          <a:latin typeface="Source Code Pro" pitchFamily="49" charset="0"/>
                          <a:ea typeface="Source Code Pro" pitchFamily="49" charset="-122"/>
                          <a:cs typeface="Source Code Pro" pitchFamily="49" charset="-120"/>
                        </a:rPr>
                        <a:t>#</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9B6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6BC"/>
                      </a:solidFill>
                      <a:prstDash val="solid"/>
                      <a:round/>
                      <a:headEnd type="none" w="med" len="med"/>
                      <a:tailEnd type="none" w="med" len="med"/>
                    </a:lnB>
                    <a:solidFill>
                      <a:srgbClr val="FCE4EC"/>
                    </a:solidFill>
                  </a:tcPr>
                </a:tc>
                <a:tc>
                  <a:txBody>
                    <a:bodyPr/>
                    <a:lstStyle/>
                    <a:p>
                      <a:pPr indent="0" marL="0">
                        <a:lnSpc>
                          <a:spcPts val="2100"/>
                        </a:lnSpc>
                        <a:buNone/>
                      </a:pPr>
                      <a:r>
                        <a:rPr lang="en-US" sz="1500" b="1" dirty="0">
                          <a:solidFill>
                            <a:srgbClr val="434343"/>
                          </a:solidFill>
                          <a:latin typeface="Source Code Pro" pitchFamily="49" charset="0"/>
                          <a:ea typeface="Source Code Pro" pitchFamily="49" charset="-122"/>
                          <a:cs typeface="Source Code Pro" pitchFamily="49" charset="-120"/>
                        </a:rPr>
                        <a:t>Hito</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9B6BC"/>
                      </a:solidFill>
                      <a:prstDash val="solid"/>
                      <a:round/>
                      <a:headEnd type="none" w="med" len="med"/>
                      <a:tailEnd type="none" w="med" len="med"/>
                    </a:lnL>
                    <a:lnR w="12700" cap="flat" cmpd="sng" algn="ctr">
                      <a:solidFill>
                        <a:srgbClr val="C9B6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6BC"/>
                      </a:solidFill>
                      <a:prstDash val="solid"/>
                      <a:round/>
                      <a:headEnd type="none" w="med" len="med"/>
                      <a:tailEnd type="none" w="med" len="med"/>
                    </a:lnB>
                    <a:solidFill>
                      <a:srgbClr val="FCE4EC"/>
                    </a:solidFill>
                  </a:tcPr>
                </a:tc>
              </a:tr>
              <a:tr h="412750">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1</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6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Configuración y modelo de efectos en el servidor</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6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2</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Sensores Box2D, spawn y reaparición</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3</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Game loop y protocolo</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2750">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4</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434343"/>
                          </a:solidFill>
                          <a:latin typeface="Source Code Pro" pitchFamily="49" charset="0"/>
                          <a:ea typeface="Source Code Pro" pitchFamily="49" charset="-122"/>
                          <a:cs typeface="Source Code Pro" pitchFamily="49" charset="-120"/>
                        </a:rPr>
                        <a:t>Render, HUD y sonido en el cliente</a:t>
                      </a:r>
                      <a:endParaRPr lang="en-US" sz="1500" dirty="0">
                        <a:latin typeface="Source Code Pro" charset="0"/>
                        <a:ea typeface="Source Code Pro" charset="0"/>
                        <a:cs typeface="Source Code Pr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434343"/>
                </a:solidFill>
                <a:latin typeface="Oswald" pitchFamily="34" charset="0"/>
                <a:ea typeface="Oswald" pitchFamily="34" charset="-122"/>
                <a:cs typeface="Oswald" pitchFamily="34" charset="-120"/>
              </a:rPr>
              <a:t>EL PLAN CAMBIÓ EN EL CAMINO</a:t>
            </a:r>
            <a:endParaRPr lang="en-US" sz="4400" dirty="0"/>
          </a:p>
        </p:txBody>
      </p:sp>
      <p:sp>
        <p:nvSpPr>
          <p:cNvPr id="3" name="Text 1"/>
          <p:cNvSpPr/>
          <p:nvPr/>
        </p:nvSpPr>
        <p:spPr>
          <a:xfrm>
            <a:off x="812800" y="14782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343"/>
                </a:solidFill>
                <a:latin typeface="Source Code Pro" pitchFamily="49" charset="0"/>
                <a:ea typeface="Source Code Pro" pitchFamily="49" charset="-122"/>
                <a:cs typeface="Source Code Pro" pitchFamily="49" charset="-120"/>
              </a:rPr>
              <a:t>———</a:t>
            </a:r>
            <a:endParaRPr lang="en-US" sz="1600" dirty="0"/>
          </a:p>
        </p:txBody>
      </p:sp>
      <p:sp>
        <p:nvSpPr>
          <p:cNvPr id="4" name="Text 2"/>
          <p:cNvSpPr/>
          <p:nvPr/>
        </p:nvSpPr>
        <p:spPr>
          <a:xfrm>
            <a:off x="812800" y="19151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434343"/>
                </a:solidFill>
                <a:latin typeface="Source Code Pro" pitchFamily="49" charset="0"/>
                <a:ea typeface="Source Code Pro" pitchFamily="49" charset="-122"/>
                <a:cs typeface="Source Code Pro" pitchFamily="49" charset="-120"/>
              </a:rPr>
              <a:t>La prueba manual del juego después del Hito 4 llevó a crear dos hitos nuevos</a:t>
            </a:r>
            <a:endParaRPr lang="en-US" sz="1700" dirty="0"/>
          </a:p>
        </p:txBody>
      </p:sp>
      <p:sp>
        <p:nvSpPr>
          <p:cNvPr id="5" name="Shape 3"/>
          <p:cNvSpPr/>
          <p:nvPr/>
        </p:nvSpPr>
        <p:spPr>
          <a:xfrm>
            <a:off x="812800" y="2369741"/>
            <a:ext cx="5130800" cy="3675459"/>
          </a:xfrm>
          <a:prstGeom prst="roundRect">
            <a:avLst>
              <a:gd name="adj" fmla="val 11057"/>
            </a:avLst>
          </a:prstGeom>
          <a:solidFill>
            <a:srgbClr val="F3F3F3"/>
          </a:solidFill>
          <a:ln/>
        </p:spPr>
      </p:sp>
      <p:sp>
        <p:nvSpPr>
          <p:cNvPr id="6" name="Text 4"/>
          <p:cNvSpPr/>
          <p:nvPr/>
        </p:nvSpPr>
        <p:spPr>
          <a:xfrm>
            <a:off x="2802295" y="3623370"/>
            <a:ext cx="1151811" cy="452041"/>
          </a:xfrm>
          <a:prstGeom prst="rect">
            <a:avLst/>
          </a:prstGeom>
          <a:noFill/>
          <a:ln/>
        </p:spPr>
        <p:txBody>
          <a:bodyPr wrap="square" lIns="0" tIns="0" rIns="0" bIns="0" rtlCol="0" anchor="t">
            <a:normAutofit/>
          </a:bodyPr>
          <a:lstStyle/>
          <a:p>
            <a:pPr algn="ctr" indent="0" marL="0">
              <a:lnSpc>
                <a:spcPts val="3360"/>
              </a:lnSpc>
              <a:buNone/>
            </a:pPr>
            <a:r>
              <a:rPr lang="en-US" sz="2800" b="1" dirty="0">
                <a:solidFill>
                  <a:srgbClr val="E91E63"/>
                </a:solidFill>
                <a:latin typeface="Oswald" pitchFamily="34" charset="0"/>
                <a:ea typeface="Oswald" pitchFamily="34" charset="-122"/>
                <a:cs typeface="Oswald" pitchFamily="34" charset="-120"/>
              </a:rPr>
              <a:t>HITO 5</a:t>
            </a:r>
            <a:endParaRPr lang="en-US" sz="2800" dirty="0"/>
          </a:p>
        </p:txBody>
      </p:sp>
      <p:sp>
        <p:nvSpPr>
          <p:cNvPr id="7" name="Text 5"/>
          <p:cNvSpPr/>
          <p:nvPr/>
        </p:nvSpPr>
        <p:spPr>
          <a:xfrm>
            <a:off x="1102106" y="4202410"/>
            <a:ext cx="4552188" cy="614561"/>
          </a:xfrm>
          <a:prstGeom prst="rect">
            <a:avLst/>
          </a:prstGeom>
          <a:noFill/>
          <a:ln/>
        </p:spPr>
        <p:txBody>
          <a:bodyPr wrap="square" lIns="0" tIns="0" rIns="0" bIns="0" rtlCol="0" anchor="t">
            <a:normAutofit/>
          </a:bodyPr>
          <a:lstStyle/>
          <a:p>
            <a:pPr algn="ctr" indent="0" marL="0">
              <a:lnSpc>
                <a:spcPts val="2320"/>
              </a:lnSpc>
              <a:buNone/>
            </a:pPr>
            <a:r>
              <a:rPr lang="en-US" sz="1600" dirty="0">
                <a:solidFill>
                  <a:srgbClr val="434343"/>
                </a:solidFill>
                <a:latin typeface="Source Code Pro" pitchFamily="49" charset="0"/>
                <a:ea typeface="Source Code Pro" pitchFamily="49" charset="-122"/>
                <a:cs typeface="Source Code Pro" pitchFamily="49" charset="-120"/>
              </a:rPr>
              <a:t>Los power-ups aparecen entre los checkpoints y sobre la calle</a:t>
            </a:r>
            <a:endParaRPr lang="en-US" sz="1600" dirty="0"/>
          </a:p>
        </p:txBody>
      </p:sp>
      <p:sp>
        <p:nvSpPr>
          <p:cNvPr id="8" name="Shape 6"/>
          <p:cNvSpPr/>
          <p:nvPr/>
        </p:nvSpPr>
        <p:spPr>
          <a:xfrm>
            <a:off x="6248400" y="2369741"/>
            <a:ext cx="5130800" cy="3675459"/>
          </a:xfrm>
          <a:prstGeom prst="roundRect">
            <a:avLst>
              <a:gd name="adj" fmla="val 11057"/>
            </a:avLst>
          </a:prstGeom>
          <a:solidFill>
            <a:srgbClr val="F3F3F3"/>
          </a:solidFill>
          <a:ln/>
        </p:spPr>
      </p:sp>
      <p:sp>
        <p:nvSpPr>
          <p:cNvPr id="9" name="Text 7"/>
          <p:cNvSpPr/>
          <p:nvPr/>
        </p:nvSpPr>
        <p:spPr>
          <a:xfrm>
            <a:off x="8231703" y="3623370"/>
            <a:ext cx="1164193" cy="452041"/>
          </a:xfrm>
          <a:prstGeom prst="rect">
            <a:avLst/>
          </a:prstGeom>
          <a:noFill/>
          <a:ln/>
        </p:spPr>
        <p:txBody>
          <a:bodyPr wrap="square" lIns="0" tIns="0" rIns="0" bIns="0" rtlCol="0" anchor="t">
            <a:normAutofit/>
          </a:bodyPr>
          <a:lstStyle/>
          <a:p>
            <a:pPr algn="ctr" indent="0" marL="0">
              <a:lnSpc>
                <a:spcPts val="3360"/>
              </a:lnSpc>
              <a:buNone/>
            </a:pPr>
            <a:r>
              <a:rPr lang="en-US" sz="2800" b="1" dirty="0">
                <a:solidFill>
                  <a:srgbClr val="E91E63"/>
                </a:solidFill>
                <a:latin typeface="Oswald" pitchFamily="34" charset="0"/>
                <a:ea typeface="Oswald" pitchFamily="34" charset="-122"/>
                <a:cs typeface="Oswald" pitchFamily="34" charset="-120"/>
              </a:rPr>
              <a:t>HITO 6</a:t>
            </a:r>
            <a:endParaRPr lang="en-US" sz="2800" dirty="0"/>
          </a:p>
        </p:txBody>
      </p:sp>
      <p:sp>
        <p:nvSpPr>
          <p:cNvPr id="10" name="Text 8"/>
          <p:cNvSpPr/>
          <p:nvPr/>
        </p:nvSpPr>
        <p:spPr>
          <a:xfrm>
            <a:off x="6537706" y="4202410"/>
            <a:ext cx="4552188" cy="614561"/>
          </a:xfrm>
          <a:prstGeom prst="rect">
            <a:avLst/>
          </a:prstGeom>
          <a:noFill/>
          <a:ln/>
        </p:spPr>
        <p:txBody>
          <a:bodyPr wrap="square" lIns="0" tIns="0" rIns="0" bIns="0" rtlCol="0" anchor="t">
            <a:normAutofit/>
          </a:bodyPr>
          <a:lstStyle/>
          <a:p>
            <a:pPr algn="ctr" indent="0" marL="0">
              <a:lnSpc>
                <a:spcPts val="2320"/>
              </a:lnSpc>
              <a:buNone/>
            </a:pPr>
            <a:r>
              <a:rPr lang="en-US" sz="1600" dirty="0">
                <a:solidFill>
                  <a:srgbClr val="434343"/>
                </a:solidFill>
                <a:latin typeface="Source Code Pro" pitchFamily="49" charset="0"/>
                <a:ea typeface="Source Code Pro" pitchFamily="49" charset="-122"/>
                <a:cs typeface="Source Code Pro" pitchFamily="49" charset="-120"/>
              </a:rPr>
              <a:t>Los power-ups respetan si están sobre un puente o por debajo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434343"/>
                </a:solidFill>
                <a:latin typeface="Oswald" pitchFamily="34" charset="0"/>
                <a:ea typeface="Oswald" pitchFamily="34" charset="-122"/>
                <a:cs typeface="Oswald" pitchFamily="34" charset="-120"/>
              </a:rPr>
              <a:t>COSTO POR HITO</a:t>
            </a:r>
            <a:endParaRPr lang="en-US" sz="4400" dirty="0"/>
          </a:p>
        </p:txBody>
      </p:sp>
      <p:sp>
        <p:nvSpPr>
          <p:cNvPr id="3" name="Text 1"/>
          <p:cNvSpPr/>
          <p:nvPr/>
        </p:nvSpPr>
        <p:spPr>
          <a:xfrm>
            <a:off x="812800" y="14782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343"/>
                </a:solidFill>
                <a:latin typeface="Source Code Pro" pitchFamily="49" charset="0"/>
                <a:ea typeface="Source Code Pro" pitchFamily="49" charset="-122"/>
                <a:cs typeface="Source Code Pro" pitchFamily="49" charset="-120"/>
              </a:rPr>
              <a:t>———</a:t>
            </a:r>
            <a:endParaRPr lang="en-US" sz="1600" dirty="0"/>
          </a:p>
        </p:txBody>
      </p:sp>
      <p:pic>
        <p:nvPicPr>
          <p:cNvPr id="4" name="Image 0" descr="Gráfico de barras del costo en dólares de cada hito: hito 1 $5,44, hito 2 $5,10, hito 3 $13,28, hito 4 $9,98, hito 5 $11,81, hito 6 $7,15">    </p:cNvPr>
          <p:cNvPicPr>
            <a:picLocks noChangeAspect="1"/>
          </p:cNvPicPr>
          <p:nvPr/>
        </p:nvPicPr>
        <p:blipFill>
          <a:blip r:embed="rId1"/>
          <a:srcRect l="-123" r="-123" t="0" b="0"/>
          <a:stretch/>
        </p:blipFill>
        <p:spPr>
          <a:xfrm>
            <a:off x="812800" y="1915120"/>
            <a:ext cx="7670800" cy="3926880"/>
          </a:xfrm>
          <a:prstGeom prst="rect">
            <a:avLst/>
          </a:prstGeom>
        </p:spPr>
      </p:pic>
      <p:sp>
        <p:nvSpPr>
          <p:cNvPr id="5" name="Shape 2"/>
          <p:cNvSpPr/>
          <p:nvPr/>
        </p:nvSpPr>
        <p:spPr>
          <a:xfrm>
            <a:off x="8839200" y="1915120"/>
            <a:ext cx="2540000" cy="3926880"/>
          </a:xfrm>
          <a:prstGeom prst="roundRect">
            <a:avLst>
              <a:gd name="adj" fmla="val 16000"/>
            </a:avLst>
          </a:prstGeom>
          <a:solidFill>
            <a:srgbClr val="FCE4EC"/>
          </a:solidFill>
          <a:ln/>
        </p:spPr>
      </p:sp>
      <p:sp>
        <p:nvSpPr>
          <p:cNvPr id="6" name="Text 3"/>
          <p:cNvSpPr/>
          <p:nvPr/>
        </p:nvSpPr>
        <p:spPr>
          <a:xfrm>
            <a:off x="9113133" y="2957909"/>
            <a:ext cx="1992035" cy="665460"/>
          </a:xfrm>
          <a:prstGeom prst="rect">
            <a:avLst/>
          </a:prstGeom>
          <a:noFill/>
          <a:ln/>
        </p:spPr>
        <p:txBody>
          <a:bodyPr wrap="square" lIns="0" tIns="0" rIns="0" bIns="0" rtlCol="0" anchor="t">
            <a:normAutofit/>
          </a:bodyPr>
          <a:lstStyle/>
          <a:p>
            <a:pPr algn="ctr" indent="0" marL="0">
              <a:lnSpc>
                <a:spcPts val="5040"/>
              </a:lnSpc>
              <a:buNone/>
            </a:pPr>
            <a:r>
              <a:rPr lang="en-US" sz="4800" b="1" dirty="0">
                <a:solidFill>
                  <a:srgbClr val="E91E63"/>
                </a:solidFill>
                <a:latin typeface="Oswald" pitchFamily="34" charset="0"/>
                <a:ea typeface="Oswald" pitchFamily="34" charset="-122"/>
                <a:cs typeface="Oswald" pitchFamily="34" charset="-120"/>
              </a:rPr>
              <a:t>$52,76</a:t>
            </a:r>
            <a:endParaRPr lang="en-US" sz="4800" dirty="0"/>
          </a:p>
        </p:txBody>
      </p:sp>
      <p:sp>
        <p:nvSpPr>
          <p:cNvPr id="7" name="Text 4"/>
          <p:cNvSpPr/>
          <p:nvPr/>
        </p:nvSpPr>
        <p:spPr>
          <a:xfrm>
            <a:off x="9070985" y="3699570"/>
            <a:ext cx="2076331" cy="330200"/>
          </a:xfrm>
          <a:prstGeom prst="rect">
            <a:avLst/>
          </a:prstGeom>
          <a:noFill/>
          <a:ln/>
        </p:spPr>
        <p:txBody>
          <a:bodyPr wrap="square" lIns="0" tIns="0" rIns="0" bIns="0" rtlCol="0" anchor="t">
            <a:normAutofit/>
          </a:bodyPr>
          <a:lstStyle/>
          <a:p>
            <a:pPr algn="ctr" indent="0" marL="0">
              <a:lnSpc>
                <a:spcPts val="2400"/>
              </a:lnSpc>
              <a:buNone/>
            </a:pPr>
            <a:r>
              <a:rPr lang="en-US" sz="2000" dirty="0">
                <a:solidFill>
                  <a:srgbClr val="434343"/>
                </a:solidFill>
                <a:latin typeface="Oswald" pitchFamily="34" charset="0"/>
                <a:ea typeface="Oswald" pitchFamily="34" charset="-122"/>
                <a:cs typeface="Oswald" pitchFamily="34" charset="-120"/>
              </a:rPr>
              <a:t>Total de los 6 hitos</a:t>
            </a:r>
            <a:endParaRPr lang="en-US" sz="2000" dirty="0"/>
          </a:p>
        </p:txBody>
      </p:sp>
      <p:sp>
        <p:nvSpPr>
          <p:cNvPr id="8" name="Text 5"/>
          <p:cNvSpPr/>
          <p:nvPr/>
        </p:nvSpPr>
        <p:spPr>
          <a:xfrm>
            <a:off x="9010396" y="4105970"/>
            <a:ext cx="2197608" cy="718641"/>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 5 h 15 min de sesión</a:t>
            </a:r>
            <a:endParaRPr lang="en-US" sz="1300" dirty="0"/>
          </a:p>
          <a:p>
            <a:pPr algn="ct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+4.198 líneas</a:t>
            </a:r>
            <a:endParaRPr lang="en-US" sz="13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57575"/>
                </a:solidFill>
                <a:latin typeface="Source Code Pro" pitchFamily="49" charset="0"/>
                <a:ea typeface="Source Code Pro" pitchFamily="49" charset="-122"/>
                <a:cs typeface="Source Code Pro" pitchFamily="49" charset="-120"/>
              </a:rPr>
              <a:t>Fuente: /usage de Claude Code al cerrar la sesión de cada hito · Claude Opus 5.5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434343"/>
                </a:solidFill>
                <a:latin typeface="Oswald" pitchFamily="34" charset="0"/>
                <a:ea typeface="Oswald" pitchFamily="34" charset="-122"/>
                <a:cs typeface="Oswald" pitchFamily="34" charset="-120"/>
              </a:rPr>
              <a:t>CALIDAD CON SONARCLOUD</a:t>
            </a:r>
            <a:endParaRPr lang="en-US" sz="4400" dirty="0"/>
          </a:p>
        </p:txBody>
      </p:sp>
      <p:sp>
        <p:nvSpPr>
          <p:cNvPr id="3" name="Text 1"/>
          <p:cNvSpPr/>
          <p:nvPr/>
        </p:nvSpPr>
        <p:spPr>
          <a:xfrm>
            <a:off x="812800" y="14782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34343"/>
                </a:solidFill>
                <a:latin typeface="Source Code Pro" pitchFamily="49" charset="0"/>
                <a:ea typeface="Source Code Pro" pitchFamily="49" charset="-122"/>
                <a:cs typeface="Source Code Pro" pitchFamily="49" charset="-120"/>
              </a:rPr>
              <a: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7820"/>
          <a:ext cx="10553700" cy="3105249"/>
        </p:xfrm>
        <a:graphic>
          <a:graphicData uri="http://schemas.openxmlformats.org/drawingml/2006/table">
            <a:tbl>
              <a:tblPr/>
              <a:tblGrid>
                <a:gridCol w="3588258"/>
                <a:gridCol w="2321814"/>
                <a:gridCol w="2321814"/>
                <a:gridCol w="2321814"/>
              </a:tblGrid>
              <a:tr h="590352">
                <a:tc>
                  <a:txBody>
                    <a:bodyPr/>
                    <a:lstStyle/>
                    <a:p>
                      <a:pPr indent="0" marL="0">
                        <a:lnSpc>
                          <a:spcPts val="1820"/>
                        </a:lnSpc>
                        <a:buNone/>
                      </a:pPr>
                      <a:r>
                        <a:rPr lang="en-US" sz="1300" b="1" dirty="0">
                          <a:solidFill>
                            <a:srgbClr val="434343"/>
                          </a:solidFill>
                          <a:latin typeface="Source Code Pro" pitchFamily="49" charset="0"/>
                          <a:ea typeface="Source Code Pro" pitchFamily="49" charset="-122"/>
                          <a:cs typeface="Source Code Pro" pitchFamily="49" charset="-120"/>
                        </a:rPr>
                        <a:t>Indicador</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9B6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6BC"/>
                      </a:solidFill>
                      <a:prstDash val="solid"/>
                      <a:round/>
                      <a:headEnd type="none" w="med" len="med"/>
                      <a:tailEnd type="none" w="med" len="med"/>
                    </a:lnB>
                    <a:solidFill>
                      <a:srgbClr val="FCE4EC"/>
                    </a:solidFill>
                  </a:tcPr>
                </a:tc>
                <a:tc>
                  <a:txBody>
                    <a:bodyPr/>
                    <a:lstStyle/>
                    <a:p>
                      <a:pPr indent="0" marL="0">
                        <a:lnSpc>
                          <a:spcPts val="1820"/>
                        </a:lnSpc>
                        <a:buNone/>
                      </a:pPr>
                      <a:r>
                        <a:rPr lang="en-US" sz="1300" b="1" dirty="0">
                          <a:solidFill>
                            <a:srgbClr val="434343"/>
                          </a:solidFill>
                          <a:latin typeface="Source Code Pro" pitchFamily="49" charset="0"/>
                          <a:ea typeface="Source Code Pro" pitchFamily="49" charset="-122"/>
                          <a:cs typeface="Source Code Pro" pitchFamily="49" charset="-120"/>
                        </a:rPr>
                        <a:t>Antes del SDD</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9B6BC"/>
                      </a:solidFill>
                      <a:prstDash val="solid"/>
                      <a:round/>
                      <a:headEnd type="none" w="med" len="med"/>
                      <a:tailEnd type="none" w="med" len="med"/>
                    </a:lnL>
                    <a:lnR w="12700" cap="flat" cmpd="sng" algn="ctr">
                      <a:solidFill>
                        <a:srgbClr val="C9B6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6BC"/>
                      </a:solidFill>
                      <a:prstDash val="solid"/>
                      <a:round/>
                      <a:headEnd type="none" w="med" len="med"/>
                      <a:tailEnd type="none" w="med" len="med"/>
                    </a:lnB>
                    <a:solidFill>
                      <a:srgbClr val="FCE4EC"/>
                    </a:solidFill>
                  </a:tcPr>
                </a:tc>
                <a:tc>
                  <a:txBody>
                    <a:bodyPr/>
                    <a:lstStyle/>
                    <a:p>
                      <a:pPr indent="0" marL="0">
                        <a:lnSpc>
                          <a:spcPts val="1820"/>
                        </a:lnSpc>
                        <a:buNone/>
                      </a:pPr>
                      <a:r>
                        <a:rPr lang="en-US" sz="1300" b="1" dirty="0">
                          <a:solidFill>
                            <a:srgbClr val="434343"/>
                          </a:solidFill>
                          <a:latin typeface="Source Code Pro" pitchFamily="49" charset="0"/>
                          <a:ea typeface="Source Code Pro" pitchFamily="49" charset="-122"/>
                          <a:cs typeface="Source Code Pro" pitchFamily="49" charset="-120"/>
                        </a:rPr>
                        <a:t>Después de los hitos</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9B6BC"/>
                      </a:solidFill>
                      <a:prstDash val="solid"/>
                      <a:round/>
                      <a:headEnd type="none" w="med" len="med"/>
                      <a:tailEnd type="none" w="med" len="med"/>
                    </a:lnL>
                    <a:lnR w="12700" cap="flat" cmpd="sng" algn="ctr">
                      <a:solidFill>
                        <a:srgbClr val="C9B6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6BC"/>
                      </a:solidFill>
                      <a:prstDash val="solid"/>
                      <a:round/>
                      <a:headEnd type="none" w="med" len="med"/>
                      <a:tailEnd type="none" w="med" len="med"/>
                    </a:lnB>
                    <a:solidFill>
                      <a:srgbClr val="FCE4EC"/>
                    </a:solidFill>
                  </a:tcPr>
                </a:tc>
                <a:tc>
                  <a:txBody>
                    <a:bodyPr/>
                    <a:lstStyle/>
                    <a:p>
                      <a:pPr indent="0" marL="0">
                        <a:lnSpc>
                          <a:spcPts val="1820"/>
                        </a:lnSpc>
                        <a:buNone/>
                      </a:pPr>
                      <a:r>
                        <a:rPr lang="en-US" sz="1300" b="1" dirty="0">
                          <a:solidFill>
                            <a:srgbClr val="434343"/>
                          </a:solidFill>
                          <a:latin typeface="Source Code Pro" pitchFamily="49" charset="0"/>
                          <a:ea typeface="Source Code Pro" pitchFamily="49" charset="-122"/>
                          <a:cs typeface="Source Code Pro" pitchFamily="49" charset="-120"/>
                        </a:rPr>
                        <a:t>Después del arreglo de issues de Sonar</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9B6BC"/>
                      </a:solidFill>
                      <a:prstDash val="solid"/>
                      <a:round/>
                      <a:headEnd type="none" w="med" len="med"/>
                      <a:tailEnd type="none" w="med" len="med"/>
                    </a:lnL>
                    <a:lnR w="12700" cap="flat" cmpd="sng" algn="ctr">
                      <a:solidFill>
                        <a:srgbClr val="C9B6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6BC"/>
                      </a:solidFill>
                      <a:prstDash val="solid"/>
                      <a:round/>
                      <a:headEnd type="none" w="med" len="med"/>
                      <a:tailEnd type="none" w="med" len="med"/>
                    </a:lnB>
                    <a:solidFill>
                      <a:srgbClr val="FCE4EC"/>
                    </a:solidFill>
                  </a:tcPr>
                </a:tc>
              </a:tr>
              <a:tr h="359271">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Issues abiertas</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6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23</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6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23</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6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0</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6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Confiabilidad</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E</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E</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A</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Seguridad</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A</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A</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A</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Cobertura</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89,3 %</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90,2 %</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90,1 %</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Complejidad ciclomática</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1.554</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1.845</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1.848</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Complejidad cognitiva</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1.033</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1.244</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1.250</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Líneas de código</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9.392</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10.598</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434343"/>
                          </a:solidFill>
                          <a:latin typeface="Source Code Pro" pitchFamily="49" charset="0"/>
                          <a:ea typeface="Source Code Pro" pitchFamily="49" charset="-122"/>
                          <a:cs typeface="Source Code Pro" pitchFamily="49" charset="-120"/>
                        </a:rPr>
                        <a:t>10.637</a:t>
                      </a:r>
                      <a:endParaRPr lang="en-US" sz="1300" dirty="0">
                        <a:latin typeface="Source Code Pro" charset="0"/>
                        <a:ea typeface="Source Code Pro" charset="0"/>
                        <a:cs typeface="Source Code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57575"/>
                </a:solidFill>
                <a:latin typeface="Source Code Pro" pitchFamily="49" charset="0"/>
                <a:ea typeface="Source Code Pro" pitchFamily="49" charset="-122"/>
                <a:cs typeface="Source Code Pro" pitchFamily="49" charset="-120"/>
              </a:rPr>
              <a:t>Mismo análisis en los tres commits · la complejidad crece con el código (0,174 por línea)</a:t>
            </a:r>
            <a:endParaRPr lang="en-US" sz="1200" dirty="0"/>
          </a:p>
        </p:txBody>
      </p:sp>
    </p:spTree>
  </p:cSld>
  <p:clrMapOvr>
    <a:masterClrMapping/>
  </p:clrMapOvr>
</p:sld>
</file>

<file path=ppt/theme/theme1.xml><?xml version="1.0" encoding="utf-8"?>
<a:theme xmlns:a="http://schemas.openxmlformats.org/drawingml/2006/main" name="Need4Speed: demo del flujo SDD">
  <a:themeElements>
    <a:clrScheme name="Need4Speed: demo del flujo SDD">
      <a:dk1>
        <a:srgbClr val="434343"/>
      </a:dk1>
      <a:lt1>
        <a:srgbClr val="FFFFFF"/>
      </a:lt1>
      <a:dk2>
        <a:srgbClr val="727272"/>
      </a:dk2>
      <a:lt2>
        <a:srgbClr val="ECECEC"/>
      </a:lt2>
      <a:accent1>
        <a:srgbClr val="E91E63"/>
      </a:accent1>
      <a:accent2>
        <a:srgbClr val="FCE4EC"/>
      </a:accent2>
      <a:accent3>
        <a:srgbClr val="757575"/>
      </a:accent3>
      <a:accent4>
        <a:srgbClr val="9AA0A6"/>
      </a:accent4>
      <a:accent5>
        <a:srgbClr val="8E8E8E"/>
      </a:accent5>
      <a:accent6>
        <a:srgbClr val="AAAAAA"/>
      </a:accent6>
      <a:hlink>
        <a:srgbClr val="0563C1"/>
      </a:hlink>
      <a:folHlink>
        <a:srgbClr val="954F72"/>
      </a:folHlink>
    </a:clrScheme>
    <a:fontScheme name="Need4Speed: demo del flujo SDD">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Code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Need4Speed: demo del flujo SDD</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2026-10-26T02:12:21Z</dcterms:created>
  <dcterms:modified xsi:type="dcterms:W3CDTF">2026-10-26T02:12:21Z</dcterms:modified>
</cp:coreProperties>
</file>